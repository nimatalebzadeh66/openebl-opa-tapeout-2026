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8AFA8-8133-4B05-895A-640DBF1188C6}" type="datetimeFigureOut">
              <a:rPr lang="en-CA" smtClean="0"/>
              <a:t>2026-10-12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2FF5B-5746-4D20-87E8-8C35B5945A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0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2FF5B-5746-4D20-87E8-8C35B5945AA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111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42602"/>
            <a:ext cx="11338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600" b="1" i="0" dirty="0">
                <a:solidFill>
                  <a:srgbClr val="0C3462"/>
                </a:solidFill>
                <a:latin typeface="Inter"/>
              </a:rPr>
              <a:t>Silicon Photonic O</a:t>
            </a:r>
            <a:r>
              <a:rPr lang="en-US" sz="3600" b="1" i="0" dirty="0">
                <a:solidFill>
                  <a:srgbClr val="0C3462"/>
                </a:solidFill>
                <a:latin typeface="Inter"/>
              </a:rPr>
              <a:t>ptical </a:t>
            </a:r>
            <a:r>
              <a:rPr sz="3600" b="1" i="0" dirty="0">
                <a:solidFill>
                  <a:srgbClr val="0C3462"/>
                </a:solidFill>
                <a:latin typeface="Inter"/>
              </a:rPr>
              <a:t>P</a:t>
            </a:r>
            <a:r>
              <a:rPr lang="en-US" sz="3600" b="1" i="0" dirty="0">
                <a:solidFill>
                  <a:srgbClr val="0C3462"/>
                </a:solidFill>
                <a:latin typeface="Inter"/>
              </a:rPr>
              <a:t>hase </a:t>
            </a:r>
            <a:r>
              <a:rPr sz="3600" b="1" i="0" dirty="0">
                <a:solidFill>
                  <a:srgbClr val="0C3462"/>
                </a:solidFill>
                <a:latin typeface="Inter"/>
              </a:rPr>
              <a:t>A</a:t>
            </a:r>
            <a:r>
              <a:rPr lang="en-US" sz="3600" b="1" i="0" dirty="0">
                <a:solidFill>
                  <a:srgbClr val="0C3462"/>
                </a:solidFill>
                <a:latin typeface="Inter"/>
              </a:rPr>
              <a:t>rray (OPA)</a:t>
            </a:r>
            <a:r>
              <a:rPr sz="3600" b="1" i="0" dirty="0">
                <a:solidFill>
                  <a:srgbClr val="0C3462"/>
                </a:solidFill>
                <a:latin typeface="Inter"/>
              </a:rPr>
              <a:t> Test Chip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50392"/>
            <a:ext cx="11265408" cy="22860"/>
          </a:xfrm>
          <a:prstGeom prst="rect">
            <a:avLst/>
          </a:prstGeom>
          <a:solidFill>
            <a:srgbClr val="18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52982"/>
            <a:ext cx="11247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0" i="0" dirty="0">
                <a:solidFill>
                  <a:srgbClr val="5B6C7B"/>
                </a:solidFill>
                <a:latin typeface="Inter"/>
              </a:rPr>
              <a:t>LiDAR-oriented passive steering </a:t>
            </a:r>
            <a:r>
              <a:rPr sz="1400" b="0" i="0" dirty="0">
                <a:solidFill>
                  <a:srgbClr val="5B6C7B"/>
                </a:solidFill>
                <a:latin typeface="Inter"/>
              </a:rPr>
              <a:t>| 3 passive OPA variants  +  2 grating-coupler loopback references</a:t>
            </a:r>
            <a:r>
              <a:rPr lang="en-US" sz="1400" dirty="0">
                <a:solidFill>
                  <a:srgbClr val="5B6C7B"/>
                </a:solidFill>
                <a:latin typeface="Inter"/>
              </a:rPr>
              <a:t> | Engineering design and verification brief </a:t>
            </a:r>
            <a:endParaRPr sz="1400" b="0" i="0" dirty="0">
              <a:solidFill>
                <a:srgbClr val="5B6C7B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83112" y="6611256"/>
            <a:ext cx="475488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30" b="0" i="0" dirty="0">
                <a:solidFill>
                  <a:srgbClr val="5B6C7B"/>
                </a:solidFill>
                <a:latin typeface="Inter"/>
              </a:rPr>
              <a:t>1 / </a:t>
            </a:r>
            <a:r>
              <a:rPr lang="en-US" sz="830" b="0" i="0" dirty="0">
                <a:solidFill>
                  <a:srgbClr val="5B6C7B"/>
                </a:solidFill>
                <a:latin typeface="Inter"/>
              </a:rPr>
              <a:t>2</a:t>
            </a:r>
            <a:endParaRPr sz="830" b="0" i="0" dirty="0">
              <a:solidFill>
                <a:srgbClr val="5B6C7B"/>
              </a:solidFill>
              <a:latin typeface="Inter"/>
            </a:endParaRPr>
          </a:p>
        </p:txBody>
      </p:sp>
      <p:pic>
        <p:nvPicPr>
          <p:cNvPr id="7" name="Picture 6" descr="f3572d17-81e8-58c5-8242-7581c3199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04" y="1353312"/>
            <a:ext cx="7289766" cy="4965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" y="6364224"/>
            <a:ext cx="72237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60" b="0" i="1">
                <a:solidFill>
                  <a:srgbClr val="5B6C7B"/>
                </a:solidFill>
                <a:latin typeface="Inter"/>
              </a:rPr>
              <a:t>Final merged GDSII floorplan  •  actual KLayout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353312"/>
            <a:ext cx="3685032" cy="496519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3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65008" y="1353311"/>
            <a:ext cx="3685032" cy="544069"/>
          </a:xfrm>
          <a:prstGeom prst="roundRect">
            <a:avLst/>
          </a:prstGeom>
          <a:solidFill>
            <a:srgbClr val="0C3462"/>
          </a:solidFill>
          <a:ln w="8890">
            <a:solidFill>
              <a:srgbClr val="0C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472184"/>
            <a:ext cx="3191256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Inter"/>
              </a:rPr>
              <a:t>CHIP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4" y="2034873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 dirty="0">
                <a:solidFill>
                  <a:srgbClr val="185CA0"/>
                </a:solidFill>
                <a:latin typeface="Inter"/>
              </a:rPr>
              <a:t>FLOORPLAN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754" y="2379680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 dirty="0">
                <a:solidFill>
                  <a:srgbClr val="263645"/>
                </a:solidFill>
                <a:latin typeface="Inter"/>
              </a:rPr>
              <a:t>605 × 410 µm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34754" y="2739022"/>
            <a:ext cx="3118105" cy="0"/>
          </a:xfrm>
          <a:prstGeom prst="line">
            <a:avLst/>
          </a:prstGeom>
          <a:ln w="10160">
            <a:solidFill>
              <a:srgbClr val="D3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39327" y="2834973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 i="0" dirty="0">
                <a:solidFill>
                  <a:srgbClr val="185CA0"/>
                </a:solidFill>
                <a:latin typeface="Inter"/>
              </a:rPr>
              <a:t>TECHNOLOGY</a:t>
            </a:r>
            <a:endParaRPr sz="1600" b="1" i="0" dirty="0">
              <a:solidFill>
                <a:srgbClr val="185CA0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9327" y="3086434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 dirty="0" err="1">
                <a:solidFill>
                  <a:srgbClr val="263645"/>
                </a:solidFill>
                <a:latin typeface="Inter"/>
              </a:rPr>
              <a:t>SiEPIC</a:t>
            </a:r>
            <a:r>
              <a:rPr sz="1600" b="0" i="0" dirty="0">
                <a:solidFill>
                  <a:srgbClr val="263645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rgbClr val="263645"/>
                </a:solidFill>
                <a:latin typeface="Inter"/>
              </a:rPr>
              <a:t>EBeam</a:t>
            </a:r>
            <a:r>
              <a:rPr sz="1600" b="0" i="0" dirty="0">
                <a:solidFill>
                  <a:srgbClr val="263645"/>
                </a:solidFill>
                <a:latin typeface="Inter"/>
              </a:rPr>
              <a:t> PDK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43898" y="3429000"/>
            <a:ext cx="3118105" cy="0"/>
          </a:xfrm>
          <a:prstGeom prst="line">
            <a:avLst/>
          </a:prstGeom>
          <a:ln w="10160">
            <a:solidFill>
              <a:srgbClr val="D3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39327" y="3475054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 dirty="0">
                <a:solidFill>
                  <a:srgbClr val="185CA0"/>
                </a:solidFill>
                <a:latin typeface="Inter"/>
              </a:rPr>
              <a:t>OPA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9036" y="3746251"/>
            <a:ext cx="2959150" cy="39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0" i="0" dirty="0">
                <a:solidFill>
                  <a:srgbClr val="263645"/>
                </a:solidFill>
                <a:latin typeface="Inter"/>
              </a:rPr>
              <a:t>Three independent 1×4 networks, </a:t>
            </a:r>
            <a:r>
              <a:rPr sz="1600" b="0" i="0" dirty="0">
                <a:solidFill>
                  <a:srgbClr val="263645"/>
                </a:solidFill>
                <a:latin typeface="Inter"/>
              </a:rPr>
              <a:t>with 4 emitters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19036" y="4268995"/>
            <a:ext cx="3118105" cy="0"/>
          </a:xfrm>
          <a:prstGeom prst="line">
            <a:avLst/>
          </a:prstGeom>
          <a:ln w="10160">
            <a:solidFill>
              <a:srgbClr val="D3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30183" y="4354346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 dirty="0">
                <a:solidFill>
                  <a:srgbClr val="185CA0"/>
                </a:solidFill>
                <a:latin typeface="Inter"/>
              </a:rPr>
              <a:t>PASSIVE PHASE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7324" y="4625276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 dirty="0">
                <a:solidFill>
                  <a:srgbClr val="263645"/>
                </a:solidFill>
                <a:latin typeface="Inter"/>
              </a:rPr>
              <a:t>−20°  /  0°  /  +20°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34755" y="4871497"/>
            <a:ext cx="3118105" cy="0"/>
          </a:xfrm>
          <a:prstGeom prst="line">
            <a:avLst/>
          </a:prstGeom>
          <a:ln w="10160">
            <a:solidFill>
              <a:srgbClr val="D3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30184" y="5011910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 dirty="0">
                <a:solidFill>
                  <a:srgbClr val="185CA0"/>
                </a:solidFill>
                <a:latin typeface="Inter"/>
              </a:rPr>
              <a:t>TEST STRUCTURES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5292474"/>
            <a:ext cx="3182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 dirty="0">
                <a:solidFill>
                  <a:srgbClr val="263645"/>
                </a:solidFill>
                <a:latin typeface="Inter"/>
              </a:rPr>
              <a:t>2 matched U-shaped loopbacks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5669280"/>
            <a:ext cx="3282696" cy="466344"/>
          </a:xfrm>
          <a:prstGeom prst="roundRect">
            <a:avLst/>
          </a:prstGeom>
          <a:solidFill>
            <a:srgbClr val="E3F6EF"/>
          </a:solidFill>
          <a:ln w="8890">
            <a:solidFill>
              <a:srgbClr val="C2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19036" y="5779008"/>
            <a:ext cx="237744" cy="237744"/>
          </a:xfrm>
          <a:prstGeom prst="ellipse">
            <a:avLst/>
          </a:prstGeom>
          <a:solidFill>
            <a:srgbClr val="157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7324" y="5764377"/>
            <a:ext cx="20116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 i="0" dirty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235" y="5762745"/>
            <a:ext cx="303580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 dirty="0">
                <a:solidFill>
                  <a:srgbClr val="157C5E"/>
                </a:solidFill>
                <a:latin typeface="Inter"/>
              </a:rPr>
              <a:t>DRC + functional checks: 0 </a:t>
            </a:r>
            <a:r>
              <a:rPr lang="en-US" sz="1600" b="1" i="0" dirty="0">
                <a:solidFill>
                  <a:srgbClr val="157C5E"/>
                </a:solidFill>
                <a:latin typeface="Inter"/>
              </a:rPr>
              <a:t>Error</a:t>
            </a:r>
            <a:endParaRPr sz="1600" b="1" i="0" dirty="0">
              <a:solidFill>
                <a:srgbClr val="157C5E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76EA75-6061-B6B9-938F-50300796DA68}"/>
              </a:ext>
            </a:extLst>
          </p:cNvPr>
          <p:cNvSpPr txBox="1"/>
          <p:nvPr/>
        </p:nvSpPr>
        <p:spPr>
          <a:xfrm>
            <a:off x="2755725" y="2549739"/>
            <a:ext cx="1609595" cy="189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230" b="0" i="0" dirty="0">
                <a:solidFill>
                  <a:srgbClr val="5B6C7B"/>
                </a:solidFill>
                <a:latin typeface="Inter"/>
              </a:rPr>
              <a:t>OPA  +20 deg. Lateral</a:t>
            </a:r>
            <a:endParaRPr sz="1230" b="0" i="0" dirty="0">
              <a:solidFill>
                <a:srgbClr val="5B6C7B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3D42D5-8CCB-8569-FA34-C39FC1857CF3}"/>
              </a:ext>
            </a:extLst>
          </p:cNvPr>
          <p:cNvSpPr txBox="1"/>
          <p:nvPr/>
        </p:nvSpPr>
        <p:spPr>
          <a:xfrm>
            <a:off x="2680569" y="3475860"/>
            <a:ext cx="1609595" cy="189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230" b="0" i="0" dirty="0">
                <a:solidFill>
                  <a:srgbClr val="5B6C7B"/>
                </a:solidFill>
                <a:latin typeface="Inter"/>
              </a:rPr>
              <a:t>OPA  0 deg. Lateral</a:t>
            </a:r>
            <a:endParaRPr sz="1230" b="0" i="0" dirty="0">
              <a:solidFill>
                <a:srgbClr val="5B6C7B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4B459B-E096-00A5-BEFC-77F9B274F26C}"/>
              </a:ext>
            </a:extLst>
          </p:cNvPr>
          <p:cNvSpPr txBox="1"/>
          <p:nvPr/>
        </p:nvSpPr>
        <p:spPr>
          <a:xfrm>
            <a:off x="2680569" y="4395061"/>
            <a:ext cx="1609595" cy="189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230" b="0" i="0" dirty="0">
                <a:solidFill>
                  <a:srgbClr val="5B6C7B"/>
                </a:solidFill>
                <a:latin typeface="Inter"/>
              </a:rPr>
              <a:t>OPA  -20 deg. Lateral</a:t>
            </a:r>
            <a:endParaRPr sz="1230" b="0" i="0" dirty="0">
              <a:solidFill>
                <a:srgbClr val="5B6C7B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7E042F-C78E-4A1B-6E4D-6383D223AC51}"/>
              </a:ext>
            </a:extLst>
          </p:cNvPr>
          <p:cNvSpPr txBox="1"/>
          <p:nvPr/>
        </p:nvSpPr>
        <p:spPr>
          <a:xfrm>
            <a:off x="5868443" y="3835908"/>
            <a:ext cx="1609595" cy="189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230" b="0" i="0" dirty="0">
                <a:solidFill>
                  <a:srgbClr val="5B6C7B"/>
                </a:solidFill>
                <a:latin typeface="Inter"/>
              </a:rPr>
              <a:t>loopback references </a:t>
            </a:r>
            <a:endParaRPr sz="1230" b="0" i="0" dirty="0">
              <a:solidFill>
                <a:srgbClr val="5B6C7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C63FAA4E-559C-8035-FBD8-B21EC36F1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" y="-91440"/>
            <a:ext cx="1218552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72230" y="6712264"/>
            <a:ext cx="475488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30" b="0" i="0" dirty="0">
                <a:solidFill>
                  <a:srgbClr val="5B6C7B"/>
                </a:solidFill>
                <a:latin typeface="Inter"/>
              </a:rPr>
              <a:t>2 / </a:t>
            </a:r>
            <a:r>
              <a:rPr lang="en-US" sz="830" b="0" i="0" dirty="0">
                <a:solidFill>
                  <a:srgbClr val="5B6C7B"/>
                </a:solidFill>
                <a:latin typeface="Inter"/>
              </a:rPr>
              <a:t>2</a:t>
            </a:r>
            <a:endParaRPr sz="830" b="0" i="0" dirty="0">
              <a:solidFill>
                <a:srgbClr val="5B6C7B"/>
              </a:solidFill>
              <a:latin typeface="Inter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571C221-0A40-6197-E9C2-A32BD3E31E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98" t="7102" b="16702"/>
          <a:stretch>
            <a:fillRect/>
          </a:stretch>
        </p:blipFill>
        <p:spPr>
          <a:xfrm>
            <a:off x="7703508" y="4840244"/>
            <a:ext cx="4293922" cy="129750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399BAB4-12FC-4CA3-4618-216EFEF6535B}"/>
              </a:ext>
            </a:extLst>
          </p:cNvPr>
          <p:cNvSpPr txBox="1"/>
          <p:nvPr/>
        </p:nvSpPr>
        <p:spPr>
          <a:xfrm>
            <a:off x="7703508" y="6555895"/>
            <a:ext cx="4390975" cy="189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230" b="0" i="0" dirty="0">
                <a:solidFill>
                  <a:srgbClr val="5B6C7B"/>
                </a:solidFill>
                <a:latin typeface="Inter"/>
              </a:rPr>
              <a:t>30 sidewall-corrugation periods; 663 nm trial period; 50% duty cycle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77714-875F-BB12-7EB0-5EDDA2035283}"/>
              </a:ext>
            </a:extLst>
          </p:cNvPr>
          <p:cNvSpPr txBox="1"/>
          <p:nvPr/>
        </p:nvSpPr>
        <p:spPr>
          <a:xfrm>
            <a:off x="320040" y="48597"/>
            <a:ext cx="11338560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b="1" i="0" dirty="0">
                <a:solidFill>
                  <a:srgbClr val="0C3462"/>
                </a:solidFill>
                <a:latin typeface="Inter"/>
              </a:rPr>
              <a:t>OPA</a:t>
            </a:r>
            <a:r>
              <a:rPr lang="en-US" sz="3600" b="1" dirty="0">
                <a:solidFill>
                  <a:srgbClr val="0C3462"/>
                </a:solidFill>
                <a:latin typeface="Inter"/>
              </a:rPr>
              <a:t> Device Layout</a:t>
            </a:r>
            <a:endParaRPr sz="3600" b="1" i="0" dirty="0">
              <a:solidFill>
                <a:srgbClr val="0C3462"/>
              </a:solidFill>
              <a:latin typeface="Inte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42DCB1-6BEE-CBC7-7F63-2450DB0C7FE5}"/>
              </a:ext>
            </a:extLst>
          </p:cNvPr>
          <p:cNvSpPr txBox="1"/>
          <p:nvPr/>
        </p:nvSpPr>
        <p:spPr>
          <a:xfrm>
            <a:off x="411481" y="866687"/>
            <a:ext cx="2356772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b="1" i="0" dirty="0">
                <a:solidFill>
                  <a:srgbClr val="0245B5"/>
                </a:solidFill>
                <a:latin typeface="Inter"/>
              </a:rPr>
              <a:t>Input grating coupler</a:t>
            </a:r>
            <a:endParaRPr b="1" i="0" dirty="0">
              <a:solidFill>
                <a:srgbClr val="0245B5"/>
              </a:solidFill>
              <a:latin typeface="Inte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F2246D-9868-D4BE-0C27-258DA5BA48C7}"/>
              </a:ext>
            </a:extLst>
          </p:cNvPr>
          <p:cNvSpPr txBox="1"/>
          <p:nvPr/>
        </p:nvSpPr>
        <p:spPr>
          <a:xfrm>
            <a:off x="2768253" y="917093"/>
            <a:ext cx="2356772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b="1" i="0" dirty="0">
                <a:solidFill>
                  <a:srgbClr val="0245B5"/>
                </a:solidFill>
                <a:latin typeface="Inter"/>
              </a:rPr>
              <a:t>1 x 4 Splitter </a:t>
            </a:r>
            <a:endParaRPr b="1" i="0" dirty="0">
              <a:solidFill>
                <a:srgbClr val="0245B5"/>
              </a:solidFill>
              <a:latin typeface="Inte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350569-022C-8FA2-690C-110B11C9C048}"/>
              </a:ext>
            </a:extLst>
          </p:cNvPr>
          <p:cNvSpPr txBox="1"/>
          <p:nvPr/>
        </p:nvSpPr>
        <p:spPr>
          <a:xfrm>
            <a:off x="6826684" y="954931"/>
            <a:ext cx="4900683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b="1" i="0" dirty="0">
                <a:solidFill>
                  <a:srgbClr val="0245B5"/>
                </a:solidFill>
                <a:latin typeface="Inter"/>
              </a:rPr>
              <a:t>Delayed-Engineering feed network + 4 emitters </a:t>
            </a:r>
            <a:endParaRPr b="1" i="0" dirty="0">
              <a:solidFill>
                <a:srgbClr val="0245B5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145</Words>
  <Application>Microsoft Office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Silicon Photonic OPA Test Chip — Editable Technical Presentation</dc:title>
  <dc:subject>Three passive 1×4 OPA variants and two GC loopbacks; geometry and functional layout verification</dc:subject>
  <dc:creator>Nima T</dc:creator>
  <cp:keywords>silicon photonics, OPA, LiDAR, SiEPIC, KLayout, EBeam, GDSII</cp:keywords>
  <dc:description>All text, callouts, and panels are editable native PowerPoint elements. Original KLayout images are embedded screenshots.</dc:description>
  <cp:lastModifiedBy>Nima Talebzadeh</cp:lastModifiedBy>
  <cp:revision>5</cp:revision>
  <dcterms:created xsi:type="dcterms:W3CDTF">2013-01-27T09:14:16Z</dcterms:created>
  <dcterms:modified xsi:type="dcterms:W3CDTF">2026-10-13T04:02:53Z</dcterms:modified>
  <cp:category/>
</cp:coreProperties>
</file>